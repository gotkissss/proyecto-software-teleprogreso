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5156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CC3091 — INGENIERÍA DE SOFTWARE 2 · TAREA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1417320"/>
            <a:ext cx="6675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Pruebas Unitarias</a:t>
            </a:r>
            <a:endParaRPr lang="en-US" sz="48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Automatizadas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85800" y="361188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Teleprogreso S.A.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personal y supervisión de rutas — pytest + Vitest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60807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del Valle de Guatemala · Departamento de Ciencias de la Computación · Semestre II —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818120" y="1325880"/>
            <a:ext cx="3794760" cy="3200400"/>
          </a:xfrm>
          <a:prstGeom prst="roundRect">
            <a:avLst>
              <a:gd name="adj" fmla="val 2571"/>
            </a:avLst>
          </a:prstGeom>
          <a:solidFill>
            <a:srgbClr val="121E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19288" y="1490472"/>
            <a:ext cx="118872" cy="11887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8238744" y="1490472"/>
            <a:ext cx="118872" cy="118872"/>
          </a:xfrm>
          <a:prstGeom prst="ellipse">
            <a:avLst/>
          </a:prstGeom>
          <a:solidFill>
            <a:srgbClr val="EAB308"/>
          </a:solidFill>
          <a:ln/>
        </p:spPr>
      </p:sp>
      <p:sp>
        <p:nvSpPr>
          <p:cNvPr id="9" name="Shape 7"/>
          <p:cNvSpPr/>
          <p:nvPr/>
        </p:nvSpPr>
        <p:spPr>
          <a:xfrm>
            <a:off x="8458200" y="1490472"/>
            <a:ext cx="118872" cy="11887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0" y="1737360"/>
            <a:ext cx="3337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pytest tests/ -v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 23 passed in 2.15s =====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test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Files  4 passed (4)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  22 passed (22)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pruebas unitarias OK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Nuestro stack tecnológico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94960" cy="329184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920240"/>
            <a:ext cx="566928" cy="566928"/>
          </a:xfrm>
          <a:prstGeom prst="ellipse">
            <a:avLst/>
          </a:prstGeom>
          <a:solidFill>
            <a:srgbClr val="EAF8F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029968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95681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FastAPI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14400" y="2697480"/>
            <a:ext cx="4754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+ FastAPI y SQLAlchemy (async)</a:t>
            </a:r>
            <a:endParaRPr lang="en-US" sz="145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 y Alembic</a:t>
            </a:r>
            <a:endParaRPr lang="en-US" sz="145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JWT con 4 roles: técnico, supervisor, admin y gerente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263640" y="1600200"/>
            <a:ext cx="5394960" cy="329184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83680" y="1920240"/>
            <a:ext cx="566928" cy="566928"/>
          </a:xfrm>
          <a:prstGeom prst="ellipse">
            <a:avLst/>
          </a:prstGeom>
          <a:solidFill>
            <a:srgbClr val="EAF8F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2029968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0" y="195681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React 18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6629400" y="2697480"/>
            <a:ext cx="4754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como build tool (PWA)</a:t>
            </a:r>
            <a:endParaRPr lang="en-US" sz="145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+ Axios contra la API</a:t>
            </a:r>
            <a:endParaRPr lang="en-US" sz="145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propios: badges, modales, cronómetro de pausas y mapas de ruta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48640" y="5257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DEL SISTEMA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5577840"/>
            <a:ext cx="1417320" cy="438912"/>
          </a:xfrm>
          <a:prstGeom prst="roundRect">
            <a:avLst>
              <a:gd name="adj" fmla="val 50000"/>
            </a:avLst>
          </a:prstGeom>
          <a:solidFill>
            <a:srgbClr val="EAF8F0"/>
          </a:solidFill>
          <a:ln w="12700">
            <a:solidFill>
              <a:srgbClr val="BBE5C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48640" y="557784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tareas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2121408" y="5577840"/>
            <a:ext cx="1417320" cy="438912"/>
          </a:xfrm>
          <a:prstGeom prst="roundRect">
            <a:avLst>
              <a:gd name="adj" fmla="val 50000"/>
            </a:avLst>
          </a:prstGeom>
          <a:solidFill>
            <a:srgbClr val="EAF8F0"/>
          </a:solidFill>
          <a:ln w="12700">
            <a:solidFill>
              <a:srgbClr val="BBE5C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121408" y="557784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inventario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3694176" y="5577840"/>
            <a:ext cx="1417320" cy="438912"/>
          </a:xfrm>
          <a:prstGeom prst="roundRect">
            <a:avLst>
              <a:gd name="adj" fmla="val 50000"/>
            </a:avLst>
          </a:prstGeom>
          <a:solidFill>
            <a:srgbClr val="EAF8F0"/>
          </a:solidFill>
          <a:ln w="12700">
            <a:solidFill>
              <a:srgbClr val="BBE5C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694176" y="557784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asistencia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266944" y="5577840"/>
            <a:ext cx="1417320" cy="438912"/>
          </a:xfrm>
          <a:prstGeom prst="roundRect">
            <a:avLst>
              <a:gd name="adj" fmla="val 50000"/>
            </a:avLst>
          </a:prstGeom>
          <a:solidFill>
            <a:srgbClr val="EAF8F0"/>
          </a:solidFill>
          <a:ln w="12700">
            <a:solidFill>
              <a:srgbClr val="BBE5CD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266944" y="557784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rutas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839712" y="5577840"/>
            <a:ext cx="1417320" cy="438912"/>
          </a:xfrm>
          <a:prstGeom prst="roundRect">
            <a:avLst>
              <a:gd name="adj" fmla="val 50000"/>
            </a:avLst>
          </a:prstGeom>
          <a:solidFill>
            <a:srgbClr val="EAF8F0"/>
          </a:solidFill>
          <a:ln w="12700">
            <a:solidFill>
              <a:srgbClr val="BBE5CD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839712" y="557784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empleados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8412480" y="5577840"/>
            <a:ext cx="1417320" cy="438912"/>
          </a:xfrm>
          <a:prstGeom prst="roundRect">
            <a:avLst>
              <a:gd name="adj" fmla="val 50000"/>
            </a:avLst>
          </a:prstGeom>
          <a:solidFill>
            <a:srgbClr val="EAF8F0"/>
          </a:solidFill>
          <a:ln w="12700">
            <a:solidFill>
              <a:srgbClr val="BBE5CD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412480" y="557784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métricas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10817352" y="6446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Frameworks de prueba en Python (backend)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627632"/>
            <a:ext cx="11091672" cy="804672"/>
          </a:xfrm>
          <a:prstGeom prst="roundRect">
            <a:avLst>
              <a:gd name="adj" fmla="val 7955"/>
            </a:avLst>
          </a:prstGeom>
          <a:solidFill>
            <a:srgbClr val="EAF8F0"/>
          </a:solidFill>
          <a:ln w="12700">
            <a:solidFill>
              <a:srgbClr val="9BD8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70078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3383280" y="1700784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estándar de facto: sintaxis simple con assert, fixtures potentes y más de 12,000 plugins.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287000" y="1842516"/>
            <a:ext cx="1078992" cy="374904"/>
          </a:xfrm>
          <a:prstGeom prst="roundRect">
            <a:avLst>
              <a:gd name="adj" fmla="val 48780"/>
            </a:avLst>
          </a:prstGeom>
          <a:solidFill>
            <a:srgbClr val="15803D"/>
          </a:solidFill>
          <a:ln/>
        </p:spPr>
      </p:sp>
      <p:sp>
        <p:nvSpPr>
          <p:cNvPr id="7" name="Text 5"/>
          <p:cNvSpPr/>
          <p:nvPr/>
        </p:nvSpPr>
        <p:spPr>
          <a:xfrm>
            <a:off x="10287000" y="1842516"/>
            <a:ext cx="10789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ELEGIDO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11091672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63347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unittest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3383280" y="2633472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Incluido en la librería estándar; estilo JUnit basado en clases, notablemente más verboso.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493008"/>
            <a:ext cx="11091672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56616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nose2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3383280" y="356616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Sucesor de nose; funcional pero con comunidad pequeña y desarrollo lento.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425696"/>
            <a:ext cx="11091672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49884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doctest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3383280" y="4498848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dentro de docstrings; útil solo para ejemplos y casos muy simples.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358384"/>
            <a:ext cx="11091672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43153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 Framework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3383280" y="5431536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 a pruebas de aceptación por palabras clave; curva de aprendizaje alta para unit testing.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817352" y="6446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Frameworks de prueba en JavaScript (frontend)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EAF8F0"/>
          </a:solidFill>
          <a:ln w="12700">
            <a:solidFill>
              <a:srgbClr val="9BD8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7739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Vitest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754880" y="1792224"/>
            <a:ext cx="1078992" cy="347472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0" y="1792224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ELEGIDO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157984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nativo de Vite: reutiliza su configuración, muy rápido y con API compatible con Jest.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53912" y="164592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EAF8F0"/>
          </a:solidFill>
          <a:ln w="12700">
            <a:solidFill>
              <a:srgbClr val="9BD8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8232" y="17739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Testing Library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10360152" y="1792224"/>
            <a:ext cx="1078992" cy="347472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/>
        </p:spPr>
      </p:sp>
      <p:sp>
        <p:nvSpPr>
          <p:cNvPr id="11" name="Text 9"/>
          <p:cNvSpPr/>
          <p:nvPr/>
        </p:nvSpPr>
        <p:spPr>
          <a:xfrm>
            <a:off x="10360152" y="1792224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ELEGIDO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28232" y="2157984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componentes como los ve el usuario (roles y textos). Complementa al runner.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3284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Jest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3712464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más popular del ecosistema, pero exige configuración extra (babel/transform) en proyectos Vite.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53912" y="320040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33284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Mocha + Chai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428232" y="3712464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flexible, pero hay que armar runner, asserts y mocks por separado.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75488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8828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Cypress / Playwright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22960" y="5266944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Excelentes para pruebas E2E en navegador real; no están enfocados en pruebas unitarias.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309360" y="507492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combinación elegida: Vitest como runner + Testing Library para renderizar y consultar componentes.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817352" y="6446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elegimos pytest?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977640" cy="4572000"/>
          </a:xfrm>
          <a:prstGeom prst="roundRect">
            <a:avLst>
              <a:gd name="adj" fmla="val 2069"/>
            </a:avLst>
          </a:prstGeom>
          <a:solidFill>
            <a:srgbClr val="0B122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20574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8680" y="301752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+52M</a:t>
            </a:r>
            <a:endParaRPr lang="en-US" sz="30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descargas mensuales en PyPI</a:t>
            </a:r>
            <a:endParaRPr lang="en-US" sz="3000" dirty="0"/>
          </a:p>
          <a:p>
            <a:pPr indent="0" marL="0">
              <a:lnSpc>
                <a:spcPts val="2600"/>
              </a:lnSpc>
              <a:buNone/>
            </a:pPr>
            <a:endParaRPr lang="en-US" sz="30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+12,000</a:t>
            </a:r>
            <a:endParaRPr lang="en-US" sz="30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 disponibles</a:t>
            </a:r>
            <a:endParaRPr lang="en-US" sz="3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73736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49240" y="1691640"/>
            <a:ext cx="6263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fricción</a:t>
            </a:r>
            <a:endParaRPr lang="en-US" sz="15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estaba en nuestro requirements.txt: no agregó dependencias nuevas al proyecto.</a:t>
            </a:r>
            <a:endParaRPr lang="en-US" sz="15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852928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49240" y="2807208"/>
            <a:ext cx="6263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Fixtures reutilizables</a:t>
            </a:r>
            <a:endParaRPr lang="en-US" sz="15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JWT por rol, empleados mock y TestClient definidos una sola vez en conftest.py.</a:t>
            </a:r>
            <a:endParaRPr lang="en-US" sz="1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3968496"/>
            <a:ext cx="310896" cy="3108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349240" y="3922776"/>
            <a:ext cx="6263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de primera clase</a:t>
            </a:r>
            <a:endParaRPr lang="en-US" sz="15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pytest-asyncio encaja con el stack async de FastAPI y SQLAlchemy.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5084064"/>
            <a:ext cx="310896" cy="3108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349240" y="5038344"/>
            <a:ext cx="6263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Respaldado por FastAPI</a:t>
            </a:r>
            <a:endParaRPr lang="en-US" sz="15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documentación oficial de FastAPI enseña a probar con pytest y TestClient.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10817352" y="6446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elegimos Vitest + Testing Library?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3736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69164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 la configuración de Vite</a:t>
            </a:r>
            <a:endParaRPr lang="en-US" sz="15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vite.config.js sirve para dev y tests: mismo transform de JSX, cero duplicación.</a:t>
            </a:r>
            <a:endParaRPr lang="en-US" sz="15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852928"/>
            <a:ext cx="310896" cy="3108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51560" y="2807208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</a:t>
            </a:r>
            <a:endParaRPr lang="en-US" sz="15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4x más rápido que Jest en proyectos Vite; nuestros 22 tests corren en ~4 segundos.</a:t>
            </a:r>
            <a:endParaRPr lang="en-US" sz="15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968496"/>
            <a:ext cx="310896" cy="31089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51560" y="3922776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compatible con Jest</a:t>
            </a:r>
            <a:endParaRPr lang="en-US" sz="15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/ it / expect: la curva de aprendizaje para el equipo fue mínima.</a:t>
            </a:r>
            <a:endParaRPr lang="en-US" sz="15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5084064"/>
            <a:ext cx="310896" cy="31089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51560" y="5038344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como el usuario</a:t>
            </a:r>
            <a:endParaRPr lang="en-US" sz="15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Library consulta por roles y textos visibles, no por detalles internos del DOM.</a:t>
            </a:r>
            <a:endParaRPr lang="en-US" sz="1550" dirty="0"/>
          </a:p>
        </p:txBody>
      </p:sp>
      <p:sp>
        <p:nvSpPr>
          <p:cNvPr id="11" name="Shape 5"/>
          <p:cNvSpPr/>
          <p:nvPr/>
        </p:nvSpPr>
        <p:spPr>
          <a:xfrm>
            <a:off x="7635240" y="1645920"/>
            <a:ext cx="3977640" cy="4572000"/>
          </a:xfrm>
          <a:prstGeom prst="roundRect">
            <a:avLst>
              <a:gd name="adj" fmla="val 2069"/>
            </a:avLst>
          </a:prstGeom>
          <a:solidFill>
            <a:srgbClr val="0B1220"/>
          </a:solidFill>
          <a:ln/>
        </p:spPr>
      </p:sp>
      <p:sp>
        <p:nvSpPr>
          <p:cNvPr id="12" name="Text 6"/>
          <p:cNvSpPr/>
          <p:nvPr/>
        </p:nvSpPr>
        <p:spPr>
          <a:xfrm>
            <a:off x="7955280" y="20574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vitest</a:t>
            </a:r>
            <a:endParaRPr lang="en-US" sz="4000" dirty="0"/>
          </a:p>
        </p:txBody>
      </p:sp>
      <p:sp>
        <p:nvSpPr>
          <p:cNvPr id="13" name="Text 7"/>
          <p:cNvSpPr/>
          <p:nvPr/>
        </p:nvSpPr>
        <p:spPr>
          <a:xfrm>
            <a:off x="7955280" y="3017520"/>
            <a:ext cx="3291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</a:t>
            </a:r>
            <a:endParaRPr lang="en-US" sz="30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rápido que Jest sobre Vite</a:t>
            </a:r>
            <a:endParaRPr lang="en-US" sz="3000" dirty="0"/>
          </a:p>
          <a:p>
            <a:pPr indent="0" marL="0">
              <a:lnSpc>
                <a:spcPts val="2600"/>
              </a:lnSpc>
              <a:buNone/>
            </a:pPr>
            <a:endParaRPr lang="en-US" sz="30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jsdom</a:t>
            </a:r>
            <a:endParaRPr lang="en-US" sz="30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 el navegador: sin Chrome, sin servidor</a:t>
            </a:r>
            <a:endParaRPr lang="en-US" sz="3000" dirty="0"/>
          </a:p>
        </p:txBody>
      </p:sp>
      <p:sp>
        <p:nvSpPr>
          <p:cNvPr id="14" name="Text 8"/>
          <p:cNvSpPr/>
          <p:nvPr/>
        </p:nvSpPr>
        <p:spPr>
          <a:xfrm>
            <a:off x="10817352" y="6446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Ejemplos backend · seguridad y JWT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6126480" cy="3977640"/>
          </a:xfrm>
          <a:prstGeom prst="roundRect">
            <a:avLst>
              <a:gd name="adj" fmla="val 2069"/>
            </a:avLst>
          </a:prstGeom>
          <a:solidFill>
            <a:srgbClr val="121E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1810512"/>
            <a:ext cx="118872" cy="11887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" y="1810512"/>
            <a:ext cx="118872" cy="118872"/>
          </a:xfrm>
          <a:prstGeom prst="ellipse">
            <a:avLst/>
          </a:prstGeom>
          <a:solidFill>
            <a:srgbClr val="EAB308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1810512"/>
            <a:ext cx="118872" cy="11887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57400"/>
            <a:ext cx="56692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tests/test_security.py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test_verify_password_incorrecta():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hashed = hash_password("Clave123")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verify_password("Otra456",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hashed) is False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test_token_revocado_no_es_valido():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token = create_access_token(7, rol)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revoke_token(token)  # logout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pytest.raises(JWTError):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decode_access_token(token)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tests/test_security.py ........ [100%]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passed in 1.42s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086600" y="1783080"/>
            <a:ext cx="512064" cy="512064"/>
          </a:xfrm>
          <a:prstGeom prst="ellipse">
            <a:avLst/>
          </a:prstGeom>
          <a:solidFill>
            <a:srgbClr val="EAF8F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6328" y="1892808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1737360"/>
            <a:ext cx="3886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bcrypt</a:t>
            </a:r>
            <a:endParaRPr lang="en-US" sz="15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contraseña nunca se guarda en texto plano; el salt aleatorio hace únicos los hashes.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086600" y="3108960"/>
            <a:ext cx="512064" cy="512064"/>
          </a:xfrm>
          <a:prstGeom prst="ellipse">
            <a:avLst/>
          </a:prstGeom>
          <a:solidFill>
            <a:srgbClr val="EAF8F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328" y="321868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72400" y="3063240"/>
            <a:ext cx="3886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del JWT</a:t>
            </a:r>
            <a:endParaRPr lang="en-US" sz="15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token incluye sub (id), rol, exp e iat; un token malformado lanza JWTError.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7086600" y="4434840"/>
            <a:ext cx="512064" cy="512064"/>
          </a:xfrm>
          <a:prstGeom prst="ellipse">
            <a:avLst/>
          </a:prstGeom>
          <a:solidFill>
            <a:srgbClr val="EAF8F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28" y="4544568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72400" y="4389120"/>
            <a:ext cx="3886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real</a:t>
            </a:r>
            <a:endParaRPr lang="en-US" sz="15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token revocado queda en la lista negra y es rechazado aunque no haya expirado.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pruebas de hashing y tokens + 8 de validación Pydantic (test_schemas_tarea.py)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0817352" y="6446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Ejemplos backend · endpoints protegidos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DECEC"/>
          </a:solidFill>
          <a:ln w="12700">
            <a:solidFill>
              <a:srgbClr val="F5C2C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8288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token / token inválido</a:t>
            </a:r>
            <a:endParaRPr lang="en-US" sz="14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Llamar a /tareas o /asistencia sin Authorization es rechazado.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70832" y="164592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DF3E3"/>
          </a:solidFill>
          <a:ln w="12700">
            <a:solidFill>
              <a:srgbClr val="F0D9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45152" y="18288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403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645152" y="26060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sin permiso</a:t>
            </a:r>
            <a:endParaRPr lang="en-US" sz="14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técnico no puede crear tareas; una cuenta inactiva no entra.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193024" y="164592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EAF8F0"/>
          </a:solidFill>
          <a:ln w="12700">
            <a:solidFill>
              <a:srgbClr val="9BD8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67344" y="18288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467344" y="26060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válido</a:t>
            </a:r>
            <a:endParaRPr lang="en-US" sz="14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JWT correcto, /auth/me devuelve el perfil y el rol.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11091672" cy="1965960"/>
          </a:xfrm>
          <a:prstGeom prst="roundRect">
            <a:avLst>
              <a:gd name="adj" fmla="val 418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3891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base de datos real: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dependencia get_db se reemplaza con app.dependency_overrides y un AsyncMock que devuelve empleados simulados. Es la técnica oficial de FastAPI: los tests corren en cualquier máquina sin levantar PostgreSQL ni Docker.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54406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pruebas en test_auth_protection.py + 8 en test_schemas_tarea.py (enums, defaults y campos obligatorios)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817352" y="6446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Ejemplos frontend · componentes y hooks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539496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901952"/>
            <a:ext cx="512064" cy="512064"/>
          </a:xfrm>
          <a:prstGeom prst="ellipse">
            <a:avLst/>
          </a:prstGeom>
          <a:solidFill>
            <a:srgbClr val="EAF8F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01168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useTimer.test.jsx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709160" y="1947672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/>
        </p:spPr>
      </p:sp>
      <p:sp>
        <p:nvSpPr>
          <p:cNvPr id="8" name="Text 5"/>
          <p:cNvSpPr/>
          <p:nvPr/>
        </p:nvSpPr>
        <p:spPr>
          <a:xfrm>
            <a:off x="4709160" y="194767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✓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256032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Cronómetro de pausas con fake timers: avanza el reloj 5 s virtuales, verifica que se detenga en pausa y el formato HH:MM:SS.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1645920"/>
            <a:ext cx="539496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7960" y="1901952"/>
            <a:ext cx="512064" cy="512064"/>
          </a:xfrm>
          <a:prstGeom prst="ellipse">
            <a:avLst/>
          </a:prstGeom>
          <a:solidFill>
            <a:srgbClr val="EAF8F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20116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StockBadge.test.jsx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10424160" y="1947672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/>
        </p:spPr>
      </p:sp>
      <p:sp>
        <p:nvSpPr>
          <p:cNvPr id="15" name="Text 11"/>
          <p:cNvSpPr/>
          <p:nvPr/>
        </p:nvSpPr>
        <p:spPr>
          <a:xfrm>
            <a:off x="10424160" y="194767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✓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583680" y="256032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inventario: sin stock, stock bajo y el caso borde disponible === mínimo que nadie había considerado.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48640" y="3886200"/>
            <a:ext cx="539496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2960" y="4142232"/>
            <a:ext cx="512064" cy="512064"/>
          </a:xfrm>
          <a:prstGeom prst="ellipse">
            <a:avLst/>
          </a:prstGeom>
          <a:solidFill>
            <a:srgbClr val="EAF8F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251960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63040" y="4160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Badge.test.jsx</a:t>
            </a:r>
            <a:endParaRPr lang="en-US" sz="1450" dirty="0"/>
          </a:p>
        </p:txBody>
      </p:sp>
      <p:sp>
        <p:nvSpPr>
          <p:cNvPr id="21" name="Shape 16"/>
          <p:cNvSpPr/>
          <p:nvPr/>
        </p:nvSpPr>
        <p:spPr>
          <a:xfrm>
            <a:off x="4709160" y="4187952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/>
        </p:spPr>
      </p:sp>
      <p:sp>
        <p:nvSpPr>
          <p:cNvPr id="22" name="Text 17"/>
          <p:cNvSpPr/>
          <p:nvPr/>
        </p:nvSpPr>
        <p:spPr>
          <a:xfrm>
            <a:off x="4709160" y="418795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✓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868680" y="48006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automático estado → color (completado = verde, urgente = rojo) y variantes explícitas.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6263640" y="3886200"/>
            <a:ext cx="539496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537960" y="4142232"/>
            <a:ext cx="512064" cy="512064"/>
          </a:xfrm>
          <a:prstGeom prst="ellipse">
            <a:avLst/>
          </a:prstGeom>
          <a:solidFill>
            <a:srgbClr val="EAF8F0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4251960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178040" y="4160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Modal.test.jsx</a:t>
            </a:r>
            <a:endParaRPr lang="en-US" sz="1450" dirty="0"/>
          </a:p>
        </p:txBody>
      </p:sp>
      <p:sp>
        <p:nvSpPr>
          <p:cNvPr id="28" name="Shape 22"/>
          <p:cNvSpPr/>
          <p:nvPr/>
        </p:nvSpPr>
        <p:spPr>
          <a:xfrm>
            <a:off x="10424160" y="4187952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/>
        </p:spPr>
      </p:sp>
      <p:sp>
        <p:nvSpPr>
          <p:cNvPr id="29" name="Text 23"/>
          <p:cNvSpPr/>
          <p:nvPr/>
        </p:nvSpPr>
        <p:spPr>
          <a:xfrm>
            <a:off x="10424160" y="418795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✓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6583680" y="48006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y cierre: botón ×, tecla Escape, click fuera cierra pero click dentro no.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548640" y="6080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pruebas · 4 archivos · jsdom simula el navegador, sin abrir Chrome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10817352" y="6446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de la ejecución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2670048" cy="2286000"/>
          </a:xfrm>
          <a:prstGeom prst="roundRect">
            <a:avLst>
              <a:gd name="adj" fmla="val 36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74520"/>
            <a:ext cx="26700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2971800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backend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· 2.15 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19856" y="1691640"/>
            <a:ext cx="2670048" cy="2286000"/>
          </a:xfrm>
          <a:prstGeom prst="roundRect">
            <a:avLst>
              <a:gd name="adj" fmla="val 36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19856" y="1874520"/>
            <a:ext cx="26700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3419856" y="2971800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frontend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· 4.43 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91072" y="1691640"/>
            <a:ext cx="2670048" cy="2286000"/>
          </a:xfrm>
          <a:prstGeom prst="roundRect">
            <a:avLst>
              <a:gd name="adj" fmla="val 36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91072" y="1874520"/>
            <a:ext cx="26700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6291072" y="2971800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en total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fallos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62288" y="1691640"/>
            <a:ext cx="2670048" cy="2286000"/>
          </a:xfrm>
          <a:prstGeom prst="roundRect">
            <a:avLst>
              <a:gd name="adj" fmla="val 36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62288" y="1874520"/>
            <a:ext cx="26700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&lt;7s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9162288" y="2971800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completa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CI/CD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343400"/>
            <a:ext cx="11091672" cy="1828800"/>
          </a:xfrm>
          <a:prstGeom prst="roundRect">
            <a:avLst>
              <a:gd name="adj" fmla="val 4500"/>
            </a:avLst>
          </a:prstGeom>
          <a:solidFill>
            <a:srgbClr val="121E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4507992"/>
            <a:ext cx="118872" cy="11887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7" name="Shape 15"/>
          <p:cNvSpPr/>
          <p:nvPr/>
        </p:nvSpPr>
        <p:spPr>
          <a:xfrm>
            <a:off x="969264" y="4507992"/>
            <a:ext cx="118872" cy="118872"/>
          </a:xfrm>
          <a:prstGeom prst="ellipse">
            <a:avLst/>
          </a:prstGeom>
          <a:solidFill>
            <a:srgbClr val="EAB308"/>
          </a:solidFill>
          <a:ln/>
        </p:spPr>
      </p:sp>
      <p:sp>
        <p:nvSpPr>
          <p:cNvPr id="18" name="Shape 16"/>
          <p:cNvSpPr/>
          <p:nvPr/>
        </p:nvSpPr>
        <p:spPr>
          <a:xfrm>
            <a:off x="1188720" y="4507992"/>
            <a:ext cx="118872" cy="11887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754880"/>
            <a:ext cx="106344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backend &amp;&amp; pytest tests/ -v          # 23 passed in 2.15s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frontend &amp;&amp; npm test                 # 22 passed (4 files)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 solo comando por lado. Sin PostgreSQL, sin navegador, sin Docker.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817352" y="6446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observamos usándolas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4864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084832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205740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Retroalimentación inmediata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modo watch, romper una función enciende el test en rojo al guardar el archivo.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1181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309067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temprana de casos borde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tests nos hizo definir qué pasa cuando disponible === mínimo.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151376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05840" y="4123944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viva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nombres de los tests describen el comportamiento esperado del sistema.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5184648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05840" y="5157216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Independencia total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mocks eliminan la base de datos y el navegador: corren en cualquier máquina.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653796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DESVENTAJAS</a:t>
            </a:r>
            <a:endParaRPr lang="en-US" sz="13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2084832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995160" y="205740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inicial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Vitest + jsdom + Testing Library tomó tiempo de lectura de docs.</a:t>
            </a:r>
            <a:endParaRPr lang="en-US" sz="14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3118104"/>
            <a:ext cx="274320" cy="27432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995160" y="3090672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con mocks async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Simular las dependencias async de FastAPI (AsyncMock) no es obvio al inicio.</a:t>
            </a:r>
            <a:endParaRPr lang="en-US" sz="14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0" y="4151376"/>
            <a:ext cx="274320" cy="27432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6995160" y="4123944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continuo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cambio de código puede exigir actualizar los tests correspondientes.</a:t>
            </a:r>
            <a:endParaRPr lang="en-US" sz="1400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5184648"/>
            <a:ext cx="274320" cy="27432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6995160" y="5157216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cubren integración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pruebas unitarias no reemplazan pruebas E2E contra la base de datos real.</a:t>
            </a:r>
            <a:endParaRPr lang="en-US" sz="1400" dirty="0"/>
          </a:p>
        </p:txBody>
      </p:sp>
      <p:sp>
        <p:nvSpPr>
          <p:cNvPr id="21" name="Shape 11"/>
          <p:cNvSpPr/>
          <p:nvPr/>
        </p:nvSpPr>
        <p:spPr>
          <a:xfrm>
            <a:off x="6309360" y="1828800"/>
            <a:ext cx="0" cy="42062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2"/>
          <p:cNvSpPr/>
          <p:nvPr/>
        </p:nvSpPr>
        <p:spPr>
          <a:xfrm>
            <a:off x="10817352" y="6446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nos deja la automatización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85800" y="1874520"/>
            <a:ext cx="5257800" cy="1828800"/>
          </a:xfrm>
          <a:prstGeom prst="roundRect">
            <a:avLst>
              <a:gd name="adj" fmla="val 4500"/>
            </a:avLst>
          </a:prstGeom>
          <a:solidFill>
            <a:srgbClr val="121E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207568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0" y="2103120"/>
            <a:ext cx="3886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natural</a:t>
            </a:r>
            <a:endParaRPr lang="en-US" sz="15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y Vitest se acoplan al stack sin fricción: uno ya estaba en requirements.txt y el otro reutiliza la configuración de Vite.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217920" y="1874520"/>
            <a:ext cx="5257800" cy="1828800"/>
          </a:xfrm>
          <a:prstGeom prst="roundRect">
            <a:avLst>
              <a:gd name="adj" fmla="val 4500"/>
            </a:avLst>
          </a:prstGeom>
          <a:solidFill>
            <a:srgbClr val="121E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207568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60920" y="2103120"/>
            <a:ext cx="3886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razonable</a:t>
            </a:r>
            <a:endParaRPr lang="en-US" sz="15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las 45 pruebas tomó ~3-4 horas; ejecutarlas toma menos de 7 segundos, cuantas veces queramos.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85800" y="3931920"/>
            <a:ext cx="5257800" cy="1828800"/>
          </a:xfrm>
          <a:prstGeom prst="roundRect">
            <a:avLst>
              <a:gd name="adj" fmla="val 4500"/>
            </a:avLst>
          </a:prstGeom>
          <a:solidFill>
            <a:srgbClr val="121E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413308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828800" y="4160520"/>
            <a:ext cx="3886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que no vimos</a:t>
            </a:r>
            <a:endParaRPr lang="en-US" sz="15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tests forzaron a definir casos borde reales, como el stock exactamente igual al mínimo.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217920" y="3931920"/>
            <a:ext cx="5257800" cy="1828800"/>
          </a:xfrm>
          <a:prstGeom prst="roundRect">
            <a:avLst>
              <a:gd name="adj" fmla="val 4500"/>
            </a:avLst>
          </a:prstGeom>
          <a:solidFill>
            <a:srgbClr val="121E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413308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360920" y="4160520"/>
            <a:ext cx="3886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 para refactorizar</a:t>
            </a:r>
            <a:endParaRPr lang="en-US" sz="15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suite en verde, cambiar código deja de ser un acto de fe: cualquier regresión se detecta al instante.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8580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tests · 0 fallos · pytest + Vitest — Teleprogreso S.A.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817352" y="6446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2026-07-19T04:31:19Z</dcterms:created>
  <dcterms:modified xsi:type="dcterms:W3CDTF">2026-07-19T04:31:19Z</dcterms:modified>
</cp:coreProperties>
</file>